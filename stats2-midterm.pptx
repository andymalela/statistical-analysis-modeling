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ambria Math" panose="02040503050406030204" pitchFamily="18" charset="0"/>
      <p:regular r:id="rId3"/>
    </p:embeddedFont>
    <p:embeddedFont>
      <p:font typeface="Open Sauce" panose="020B0604020202020204" charset="0"/>
      <p:regular r:id="rId4"/>
    </p:embeddedFont>
    <p:embeddedFont>
      <p:font typeface="Open Sauce Bold" panose="020B0604020202020204" charset="0"/>
      <p:regular r:id="rId5"/>
    </p:embeddedFont>
    <p:embeddedFont>
      <p:font typeface="Open Sauce Semi-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915" autoAdjust="0"/>
    <p:restoredTop sz="86400" autoAdjust="0"/>
  </p:normalViewPr>
  <p:slideViewPr>
    <p:cSldViewPr>
      <p:cViewPr>
        <p:scale>
          <a:sx n="50" d="100"/>
          <a:sy n="50" d="100"/>
        </p:scale>
        <p:origin x="30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0">
                <a:extLst>
                  <a:ext uri="{FF2B5EF4-FFF2-40B4-BE49-F238E27FC236}">
                    <a16:creationId xmlns:a16="http://schemas.microsoft.com/office/drawing/2014/main" id="{98557D1A-07F3-AE67-5217-8ABB8BE5A2D3}"/>
                  </a:ext>
                </a:extLst>
              </p:cNvPr>
              <p:cNvSpPr txBox="1"/>
              <p:nvPr/>
            </p:nvSpPr>
            <p:spPr>
              <a:xfrm>
                <a:off x="7672126" y="14544860"/>
                <a:ext cx="7366990" cy="68941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[5] Analysis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For classic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-tests, both Normal and Exponential distribution samples show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&lt;0.05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meaning we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For bootstrap algorithm, around 3-5% of 1000 simulations showed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&lt;0.05</m:t>
                    </m:r>
                  </m:oMath>
                </a14:m>
                <a:r>
                  <a:rPr lang="en-US" sz="1400" b="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which is near the expected 5% Type I error under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The test using bootstrap algorithm behaves correctly, only rarely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The bootstrap attempts to verify the classic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-test’s assumptions by showing that repeated random sampling and resampling lead to the same conclusion as the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-test. </a:t>
                </a: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Figure 5. visualizes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-values distribution for samples across 1000 simulations. The dotted vertical lines denote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=0.05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Theoretically the histograms should follow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~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𝑈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(0,1)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to indicate that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-values occur equally likely across the range but seems like there is not enough data points that there is a lot of noises and I can’t say surely it followed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~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𝑈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(0,1)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just from looking. Therefore, I will not draw any conclusion from this graph. From the two methods of t-test and bootstrap algorithm however, it can be safely inferred that for both distributions, we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</a:t>
                </a:r>
              </a:p>
            </p:txBody>
          </p:sp>
        </mc:Choice>
        <mc:Fallback>
          <p:sp>
            <p:nvSpPr>
              <p:cNvPr id="113" name="TextBox 10">
                <a:extLst>
                  <a:ext uri="{FF2B5EF4-FFF2-40B4-BE49-F238E27FC236}">
                    <a16:creationId xmlns:a16="http://schemas.microsoft.com/office/drawing/2014/main" id="{98557D1A-07F3-AE67-5217-8ABB8BE5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126" y="14544860"/>
                <a:ext cx="7366990" cy="6894195"/>
              </a:xfrm>
              <a:prstGeom prst="rect">
                <a:avLst/>
              </a:prstGeom>
              <a:blipFill>
                <a:blip r:embed="rId2"/>
                <a:stretch>
                  <a:fillRect l="-1490" t="-796" r="-1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447A09-DDB7-6ABA-66B6-E41E2E553B89}"/>
              </a:ext>
            </a:extLst>
          </p:cNvPr>
          <p:cNvGrpSpPr/>
          <p:nvPr/>
        </p:nvGrpSpPr>
        <p:grpSpPr>
          <a:xfrm>
            <a:off x="8046817" y="16206749"/>
            <a:ext cx="6530009" cy="3431999"/>
            <a:chOff x="8046817" y="16897393"/>
            <a:chExt cx="6530009" cy="3725386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63702E33-224D-EACE-8A97-2273FA6B79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946"/>
            <a:stretch>
              <a:fillRect/>
            </a:stretch>
          </p:blipFill>
          <p:spPr>
            <a:xfrm>
              <a:off x="8046817" y="17285152"/>
              <a:ext cx="6530009" cy="3337627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3AB17DE-8248-6598-5052-848263590117}"/>
                </a:ext>
              </a:extLst>
            </p:cNvPr>
            <p:cNvSpPr txBox="1"/>
            <p:nvPr/>
          </p:nvSpPr>
          <p:spPr>
            <a:xfrm>
              <a:off x="9461500" y="16897393"/>
              <a:ext cx="39847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Open Sauce" panose="020B0604020202020204" charset="0"/>
                </a:rPr>
                <a:t>Figure 5. Frequency of Bootstrap p-values over 1000 simulations</a:t>
              </a:r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37308016-5142-1BEF-2575-91AF4E0A8B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557" b="2372"/>
          <a:stretch>
            <a:fillRect/>
          </a:stretch>
        </p:blipFill>
        <p:spPr>
          <a:xfrm>
            <a:off x="1056173" y="17656217"/>
            <a:ext cx="5545634" cy="3704636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C3770967-A8C0-7F91-B3F1-B2654DD41840}"/>
              </a:ext>
            </a:extLst>
          </p:cNvPr>
          <p:cNvGrpSpPr/>
          <p:nvPr/>
        </p:nvGrpSpPr>
        <p:grpSpPr>
          <a:xfrm>
            <a:off x="7541711" y="555522"/>
            <a:ext cx="4489080" cy="3754179"/>
            <a:chOff x="2774977" y="14157369"/>
            <a:chExt cx="4704062" cy="3887233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F63871B-8C0B-99B6-DF25-71B5848BFC38}"/>
                </a:ext>
              </a:extLst>
            </p:cNvPr>
            <p:cNvSpPr txBox="1"/>
            <p:nvPr/>
          </p:nvSpPr>
          <p:spPr>
            <a:xfrm>
              <a:off x="3787094" y="14157369"/>
              <a:ext cx="3192407" cy="438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Open Sauce" panose="020B0604020202020204" charset="0"/>
                </a:rPr>
                <a:t>Figure 4. April vs September Inter-arrival Times Distribution with 95% Cutoff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59EFE0D-D6AC-C03E-BDA6-0835630928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93" t="6150" r="3374"/>
            <a:stretch>
              <a:fillRect/>
            </a:stretch>
          </p:blipFill>
          <p:spPr>
            <a:xfrm>
              <a:off x="2774977" y="14589582"/>
              <a:ext cx="4704062" cy="345502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B84011-DF88-7BAF-24D6-1B9EB2407110}"/>
                  </a:ext>
                </a:extLst>
              </p:cNvPr>
              <p:cNvSpPr txBox="1"/>
              <p:nvPr/>
            </p:nvSpPr>
            <p:spPr>
              <a:xfrm>
                <a:off x="98386" y="3848976"/>
                <a:ext cx="7398071" cy="8617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[3] Data</a:t>
                </a:r>
              </a:p>
              <a:p>
                <a:pPr algn="just"/>
                <a:r>
                  <a:rPr lang="en-US" sz="1400" dirty="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The random walk was simulated 4000 times, recording each hiker’s help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∆</m:t>
                        </m:r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𝑋</m:t>
                        </m:r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,  </m:t>
                        </m:r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∆</m:t>
                        </m:r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in the 1000 m perimeter and total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𝑁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steps they took to reach it from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. The mean of these values over 4000 simulations were then computed.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B84011-DF88-7BAF-24D6-1B9EB2407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6" y="3848976"/>
                <a:ext cx="7398071" cy="861774"/>
              </a:xfrm>
              <a:prstGeom prst="rect">
                <a:avLst/>
              </a:prstGeom>
              <a:blipFill>
                <a:blip r:embed="rId6"/>
                <a:stretch>
                  <a:fillRect l="-1483" t="-6338" r="-1483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/>
          <p:cNvSpPr/>
          <p:nvPr/>
        </p:nvSpPr>
        <p:spPr>
          <a:xfrm>
            <a:off x="80964" y="629905"/>
            <a:ext cx="288000" cy="281351"/>
          </a:xfrm>
          <a:prstGeom prst="rect">
            <a:avLst/>
          </a:prstGeom>
          <a:solidFill>
            <a:srgbClr val="403B3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5027" y="651360"/>
            <a:ext cx="199875" cy="22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  <a:spcBef>
                <a:spcPct val="0"/>
              </a:spcBef>
            </a:pPr>
            <a:r>
              <a:rPr lang="en-US" sz="1425" b="1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1839" y="584770"/>
            <a:ext cx="4989320" cy="32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403B3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Lost Hikers Walk Simulation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946" y="123722"/>
            <a:ext cx="1268015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999" b="1" spc="-119" dirty="0">
                <a:solidFill>
                  <a:srgbClr val="403B3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Stochastic Processes and Statistical Inference Simulation &amp;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91244" y="79517"/>
            <a:ext cx="4359150" cy="45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400" dirty="0">
                <a:solidFill>
                  <a:srgbClr val="403B3B"/>
                </a:solidFill>
                <a:latin typeface="Open Sauce"/>
                <a:ea typeface="Open Sauce"/>
                <a:cs typeface="Open Sauce"/>
                <a:sym typeface="Open Sauce"/>
              </a:rPr>
              <a:t>Andifallih Noor Malela</a:t>
            </a:r>
          </a:p>
          <a:p>
            <a:pPr marL="0" lvl="1" indent="0" algn="r">
              <a:lnSpc>
                <a:spcPts val="1820"/>
              </a:lnSpc>
            </a:pPr>
            <a:r>
              <a:rPr lang="en-US" sz="1400" dirty="0">
                <a:solidFill>
                  <a:srgbClr val="403B3B"/>
                </a:solidFill>
                <a:latin typeface="Open Sauce"/>
                <a:ea typeface="Open Sauce"/>
                <a:cs typeface="Open Sauce"/>
                <a:sym typeface="Open Sauce"/>
              </a:rPr>
              <a:t>26002304448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-7000" y="564385"/>
            <a:ext cx="15120000" cy="0"/>
          </a:xfrm>
          <a:prstGeom prst="line">
            <a:avLst/>
          </a:prstGeom>
          <a:ln w="19050" cap="rnd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0964" y="933450"/>
            <a:ext cx="739807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400" b="1" dirty="0">
                <a:solidFill>
                  <a:srgbClr val="403B3B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[1] Introduction</a:t>
            </a:r>
          </a:p>
          <a:p>
            <a:pPr algn="just"/>
            <a:r>
              <a:rPr lang="en-US" sz="1400" dirty="0">
                <a:solidFill>
                  <a:srgbClr val="403B3B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Three lost hikers are moving in random walk in a 2-dimensional flat terrain forest. Any hiker can get help if they reach the boundary that’s 1000-meter distance away from the same, single starting point in any direction. Each hiker’s walk are independent of one another with each step taken equivalent of 1  meter. 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550475" y="537987"/>
            <a:ext cx="0" cy="6995682"/>
          </a:xfrm>
          <a:prstGeom prst="line">
            <a:avLst/>
          </a:prstGeom>
          <a:ln w="19050" cap="flat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D0B190D-C3EB-16B6-3B85-9A4550B03B42}"/>
              </a:ext>
            </a:extLst>
          </p:cNvPr>
          <p:cNvGrpSpPr/>
          <p:nvPr/>
        </p:nvGrpSpPr>
        <p:grpSpPr>
          <a:xfrm>
            <a:off x="94757" y="12899806"/>
            <a:ext cx="7280255" cy="337345"/>
            <a:chOff x="107247" y="10755649"/>
            <a:chExt cx="7280255" cy="337345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36647C2-3FAC-BBBE-3E18-67FD0C46EED6}"/>
                </a:ext>
              </a:extLst>
            </p:cNvPr>
            <p:cNvGrpSpPr/>
            <p:nvPr/>
          </p:nvGrpSpPr>
          <p:grpSpPr>
            <a:xfrm>
              <a:off x="107247" y="10811643"/>
              <a:ext cx="313867" cy="281351"/>
              <a:chOff x="107247" y="10811643"/>
              <a:chExt cx="313867" cy="281351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107247" y="10811643"/>
                <a:ext cx="313867" cy="281351"/>
              </a:xfrm>
              <a:prstGeom prst="rect">
                <a:avLst/>
              </a:prstGeom>
              <a:solidFill>
                <a:srgbClr val="403B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5267" y="10833099"/>
                <a:ext cx="217828" cy="22415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b="1" dirty="0">
                    <a:solidFill>
                      <a:srgbClr val="FFFFFF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II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74575" y="10755649"/>
              <a:ext cx="6812927" cy="3282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403B3B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Fatal Pedestrian Accidents </a:t>
              </a:r>
              <a:r>
                <a:rPr lang="en-US" sz="2000" b="1" dirty="0" err="1">
                  <a:solidFill>
                    <a:srgbClr val="403B3B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Occurence</a:t>
              </a:r>
              <a:r>
                <a:rPr lang="en-US" sz="2000" b="1" dirty="0">
                  <a:solidFill>
                    <a:srgbClr val="403B3B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Simulation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63391" y="5579497"/>
            <a:ext cx="4671069" cy="337345"/>
            <a:chOff x="0" y="-47626"/>
            <a:chExt cx="6228092" cy="449793"/>
          </a:xfrm>
        </p:grpSpPr>
        <p:sp>
          <p:nvSpPr>
            <p:cNvPr id="17" name="AutoShape 17"/>
            <p:cNvSpPr/>
            <p:nvPr/>
          </p:nvSpPr>
          <p:spPr>
            <a:xfrm>
              <a:off x="0" y="27033"/>
              <a:ext cx="418490" cy="375134"/>
            </a:xfrm>
            <a:prstGeom prst="rect">
              <a:avLst/>
            </a:prstGeom>
            <a:solidFill>
              <a:srgbClr val="403B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027" y="55640"/>
              <a:ext cx="290437" cy="298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95"/>
                </a:lnSpc>
                <a:spcBef>
                  <a:spcPct val="0"/>
                </a:spcBef>
              </a:pPr>
              <a:r>
                <a:rPr lang="en-US" sz="1425" b="1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III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107" y="-47626"/>
              <a:ext cx="5604985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403B3B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Statistical Inferencing Testing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H="1">
            <a:off x="7550475" y="7533669"/>
            <a:ext cx="0" cy="6798609"/>
          </a:xfrm>
          <a:prstGeom prst="line">
            <a:avLst/>
          </a:prstGeom>
          <a:ln w="19050" cap="flat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flipH="1">
            <a:off x="7550475" y="14332278"/>
            <a:ext cx="0" cy="7152602"/>
          </a:xfrm>
          <a:prstGeom prst="line">
            <a:avLst/>
          </a:prstGeom>
          <a:ln w="19050" cap="flat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9525" y="0"/>
            <a:ext cx="0" cy="21484884"/>
          </a:xfrm>
          <a:prstGeom prst="line">
            <a:avLst/>
          </a:prstGeom>
          <a:ln w="19050" cap="flat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5110148" y="0"/>
            <a:ext cx="0" cy="21484884"/>
          </a:xfrm>
          <a:prstGeom prst="line">
            <a:avLst/>
          </a:prstGeom>
          <a:ln w="19050" cap="flat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9525" y="21374475"/>
            <a:ext cx="15120000" cy="0"/>
          </a:xfrm>
          <a:prstGeom prst="line">
            <a:avLst/>
          </a:prstGeom>
          <a:ln w="19050" cap="rnd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V="1">
            <a:off x="9525" y="9525"/>
            <a:ext cx="15120000" cy="0"/>
          </a:xfrm>
          <a:prstGeom prst="line">
            <a:avLst/>
          </a:prstGeom>
          <a:ln w="19050" cap="rnd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7"/>
              <p:cNvSpPr txBox="1"/>
              <p:nvPr/>
            </p:nvSpPr>
            <p:spPr>
              <a:xfrm>
                <a:off x="71604" y="2046401"/>
                <a:ext cx="7398071" cy="17690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[2] Method</a:t>
                </a:r>
              </a:p>
              <a:p>
                <a:pPr algn="just"/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To simulate this random walk, following are computed in Python:</a:t>
                </a:r>
              </a:p>
              <a:p>
                <a:pPr marL="266700" lvl="1" indent="-20637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Hiker 1, 2, 3 start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Open Sauce"/>
                            <a:sym typeface="Open Sauce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Open Sauce"/>
                            <a:sym typeface="Open Sauce"/>
                          </a:rPr>
                          <m:t>0,</m:t>
                        </m:r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Open Sauce"/>
                            <a:sym typeface="Open Sauce"/>
                          </a:rPr>
                          <m:t> </m:t>
                        </m:r>
                        <m:r>
                          <a:rPr lang="en-US" sz="1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Open Sauce"/>
                            <a:sym typeface="Open Sauce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400" b="0" dirty="0">
                    <a:solidFill>
                      <a:srgbClr val="000000"/>
                    </a:solidFill>
                    <a:latin typeface="Open Sauce" panose="020B0604020202020204" charset="0"/>
                    <a:ea typeface="Cambria" panose="02040503050406030204" pitchFamily="18" charset="0"/>
                    <a:cs typeface="Open Sauce"/>
                    <a:sym typeface="Open Sauce"/>
                  </a:rPr>
                  <a:t>, initial total movement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</a:t>
                </a:r>
              </a:p>
              <a:p>
                <a:pPr marL="266700" lvl="1" indent="-20637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For each step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, random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𝛼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= 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2</m:t>
                    </m:r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𝜋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𝑢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is picked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𝛼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~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𝑈</m:t>
                    </m:r>
                    <m:d>
                      <m:dPr>
                        <m:ctrlP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sz="1400" b="0" dirty="0">
                    <a:solidFill>
                      <a:srgbClr val="000000"/>
                    </a:solidFill>
                    <a:latin typeface="Open Sauce" panose="020B0604020202020204" charset="0"/>
                    <a:ea typeface="Cambria Math" panose="02040503050406030204" pitchFamily="18" charset="0"/>
                    <a:sym typeface="Open Sauce"/>
                  </a:rPr>
                  <a:t>.</a:t>
                </a:r>
              </a:p>
              <a:p>
                <a:pPr marL="266700" lvl="1" indent="-20637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Position is moved by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∆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𝑥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 </m:t>
                    </m:r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cos</m:t>
                    </m:r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⁡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𝑦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∆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𝑦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= </m:t>
                    </m:r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sin</m:t>
                    </m:r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⁡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𝛼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and totals are incremented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∆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𝑋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+=∆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𝑥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Open Sauce"/>
                      </a:rPr>
                      <m:t>,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∆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𝑌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+=∆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𝑦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000000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266700" lvl="1" indent="-20637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Distance is computed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R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Open Sauce"/>
                                <a:cs typeface="Open Sauce"/>
                                <a:sym typeface="Open Sauce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Open Sauce"/>
                                    <a:cs typeface="Open Sauce"/>
                                    <a:sym typeface="Open Sauce"/>
                                  </a:rPr>
                                </m:ctrlPr>
                              </m:dPr>
                              <m:e>
                                <m:r>
                                  <a:rPr lang="en-US" sz="1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Open Sauce"/>
                                    <a:cs typeface="Open Sauce"/>
                                    <a:sym typeface="Open Sauce"/>
                                  </a:rPr>
                                  <m:t>∆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Open Sauce"/>
                                  </a:rPr>
                                  <m:t>𝑋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Open Sauce"/>
                                  </a:rPr>
                                  <m:t>+∆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Open Sauce"/>
                                    <a:cs typeface="Open Sauce"/>
                                    <a:sym typeface="Open Sauce"/>
                                  </a:rPr>
                                  <m:t>𝑌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</a:t>
                </a:r>
              </a:p>
              <a:p>
                <a:pPr marL="266700" lvl="1" indent="-20637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𝑖</m:t>
                    </m:r>
                    <m:r>
                      <a:rPr lang="en-US" sz="1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+=1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then repeat 1 – 4 until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𝑅</m:t>
                    </m:r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≥</m:t>
                    </m:r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1000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No maximum limit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was set.</a:t>
                </a:r>
              </a:p>
            </p:txBody>
          </p:sp>
        </mc:Choice>
        <mc:Fallback>
          <p:sp>
            <p:nvSpPr>
              <p:cNvPr id="27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4" y="2046401"/>
                <a:ext cx="7398071" cy="1769010"/>
              </a:xfrm>
              <a:prstGeom prst="rect">
                <a:avLst/>
              </a:prstGeom>
              <a:blipFill>
                <a:blip r:embed="rId7"/>
                <a:stretch>
                  <a:fillRect l="-1484" t="-3448" r="-660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27">
                <a:extLst>
                  <a:ext uri="{FF2B5EF4-FFF2-40B4-BE49-F238E27FC236}">
                    <a16:creationId xmlns:a16="http://schemas.microsoft.com/office/drawing/2014/main" id="{7CAA24BE-D784-DBD9-637D-FCA4626DD94E}"/>
                  </a:ext>
                </a:extLst>
              </p:cNvPr>
              <p:cNvSpPr txBox="1"/>
              <p:nvPr/>
            </p:nvSpPr>
            <p:spPr>
              <a:xfrm>
                <a:off x="98386" y="4746106"/>
                <a:ext cx="3867864" cy="17248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[4] Results</a:t>
                </a:r>
              </a:p>
              <a:p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Mean values over 4000 simulations:</a:t>
                </a:r>
              </a:p>
              <a:p>
                <a:pPr marL="266700" indent="-193675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rgbClr val="0070C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Hiker 1 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1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pt-BR" sz="1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𝑋</m:t>
                        </m:r>
                      </m:e>
                    </m:acc>
                    <m:r>
                      <a:rPr lang="en-US" sz="1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9.80,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en-US" sz="1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𝑌</m:t>
                        </m:r>
                      </m:e>
                    </m:acc>
                    <m:r>
                      <a:rPr lang="pt-BR" sz="1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18.44,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  <m:t>𝑁</m:t>
                        </m:r>
                      </m:e>
                    </m:acc>
                    <m:r>
                      <a:rPr lang="pt-BR" sz="1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=984291.5</m:t>
                    </m:r>
                  </m:oMath>
                </a14:m>
                <a:endParaRPr lang="pt-BR" sz="1400" dirty="0">
                  <a:solidFill>
                    <a:srgbClr val="0070C0"/>
                  </a:solidFill>
                  <a:latin typeface="Open Sauce" panose="020B0604020202020204" charset="0"/>
                  <a:ea typeface="Open Sauce Bold"/>
                  <a:cs typeface="Open Sauce Bold"/>
                  <a:sym typeface="Open Sauce Bold"/>
                </a:endParaRPr>
              </a:p>
              <a:p>
                <a:pPr marL="266700" indent="-193675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rgbClr val="FF000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Hiker 2 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pt-B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𝑋</m:t>
                        </m:r>
                      </m:e>
                    </m:acc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-13.73</m:t>
                    </m:r>
                    <m:r>
                      <a:rPr lang="pt-BR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en-US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𝑌</m:t>
                        </m:r>
                      </m:e>
                    </m:acc>
                    <m:r>
                      <a:rPr lang="pt-BR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7.82</m:t>
                    </m:r>
                    <m:r>
                      <a:rPr lang="pt-BR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  <m:t>𝑁</m:t>
                        </m:r>
                      </m:e>
                    </m:acc>
                    <m:r>
                      <a:rPr lang="pt-BR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en-US" sz="1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991062.4</m:t>
                    </m:r>
                  </m:oMath>
                </a14:m>
                <a:endParaRPr lang="en-US" sz="1400" b="0" dirty="0">
                  <a:solidFill>
                    <a:srgbClr val="FF0000"/>
                  </a:solidFill>
                  <a:latin typeface="Open Sauce" panose="020B0604020202020204" charset="0"/>
                  <a:ea typeface="Open Sauce Bold"/>
                  <a:cs typeface="Open Sauce Bold"/>
                  <a:sym typeface="Open Sauce Bold"/>
                </a:endParaRPr>
              </a:p>
              <a:p>
                <a:pPr marL="266700" indent="-193675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rgbClr val="00B05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Hiker 3 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pt-BR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𝑋</m:t>
                        </m:r>
                      </m:e>
                    </m:acc>
                    <m:r>
                      <a:rPr lang="en-US" sz="1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5.89</m:t>
                    </m:r>
                    <m:r>
                      <a:rPr lang="pt-BR" sz="1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140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Δ</m:t>
                        </m:r>
                        <m:r>
                          <a:rPr lang="en-US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Open Sauce Bold"/>
                            <a:cs typeface="Open Sauce Bold"/>
                            <a:sym typeface="Open Sauce Bold"/>
                          </a:rPr>
                          <m:t>𝑌</m:t>
                        </m:r>
                      </m:e>
                    </m:acc>
                    <m:r>
                      <a:rPr lang="pt-BR" sz="1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pt-BR" sz="1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-2.76</m:t>
                    </m:r>
                    <m:r>
                      <a:rPr lang="pt-BR" sz="1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,</m:t>
                    </m:r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  <m:t>𝑁</m:t>
                        </m:r>
                      </m:e>
                    </m:acc>
                    <m:r>
                      <a:rPr lang="pt-BR" sz="1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=</m:t>
                    </m:r>
                    <m:r>
                      <a:rPr lang="en-US" sz="1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1003844</m:t>
                    </m:r>
                    <m:r>
                      <a:rPr lang="en-US" sz="1400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.6</m:t>
                    </m:r>
                  </m:oMath>
                </a14:m>
                <a:endParaRPr lang="pt-BR" sz="1400" dirty="0">
                  <a:solidFill>
                    <a:srgbClr val="00B050"/>
                  </a:solidFill>
                  <a:latin typeface="Open Sauce" panose="020B0604020202020204" charset="0"/>
                  <a:ea typeface="Open Sauce Bold"/>
                  <a:cs typeface="Open Sauce Bold"/>
                  <a:sym typeface="Open Sauce Bold"/>
                </a:endParaRPr>
              </a:p>
            </p:txBody>
          </p:sp>
        </mc:Choice>
        <mc:Fallback>
          <p:sp>
            <p:nvSpPr>
              <p:cNvPr id="44" name="TextBox 27">
                <a:extLst>
                  <a:ext uri="{FF2B5EF4-FFF2-40B4-BE49-F238E27FC236}">
                    <a16:creationId xmlns:a16="http://schemas.microsoft.com/office/drawing/2014/main" id="{7CAA24BE-D784-DBD9-637D-FCA4626DD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6" y="4746106"/>
                <a:ext cx="3867864" cy="1724896"/>
              </a:xfrm>
              <a:prstGeom prst="rect">
                <a:avLst/>
              </a:prstGeom>
              <a:blipFill>
                <a:blip r:embed="rId8"/>
                <a:stretch>
                  <a:fillRect l="-2835" t="-3534" b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27">
                <a:extLst>
                  <a:ext uri="{FF2B5EF4-FFF2-40B4-BE49-F238E27FC236}">
                    <a16:creationId xmlns:a16="http://schemas.microsoft.com/office/drawing/2014/main" id="{23E192D1-476D-1A99-63DA-7B96D7BCAB4E}"/>
                  </a:ext>
                </a:extLst>
              </p:cNvPr>
              <p:cNvSpPr txBox="1"/>
              <p:nvPr/>
            </p:nvSpPr>
            <p:spPr>
              <a:xfrm>
                <a:off x="58965" y="9982730"/>
                <a:ext cx="7391741" cy="301666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 Bold" panose="020B0604020202020204" charset="0"/>
                    <a:ea typeface="Open Sauce Bold"/>
                    <a:cs typeface="Open Sauce Bold"/>
                    <a:sym typeface="Open Sauce Bold"/>
                  </a:rPr>
                  <a:t>[5] Analysis</a:t>
                </a:r>
              </a:p>
              <a:p>
                <a:pPr marL="266700" indent="-171450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Figure 1 shows each path taken to the 1000 m perimeter in one simulation, where it required </a:t>
                </a:r>
                <a:r>
                  <a:rPr lang="en-US" sz="1400" dirty="0">
                    <a:solidFill>
                      <a:srgbClr val="0070C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582 thousand steps for Hiker 1</a:t>
                </a: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, </a:t>
                </a:r>
                <a:r>
                  <a:rPr lang="en-US" sz="1400" dirty="0">
                    <a:solidFill>
                      <a:srgbClr val="FF000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2.2 million steps for Hiker 2</a:t>
                </a: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, and </a:t>
                </a:r>
                <a:r>
                  <a:rPr lang="en-US" sz="1400" dirty="0">
                    <a:solidFill>
                      <a:srgbClr val="00B050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322 thousand steps for Hiker 3</a:t>
                </a: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. Figure 2 shows the means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1400" i="1" dirty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 Bold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for all hikers converge over 4000 simulations to around one million steps. Weak Law of Large Numbers (WLLN) states that for </a:t>
                </a:r>
                <a:r>
                  <a:rPr lang="en-US" sz="1400" dirty="0" err="1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i.i.d.</a:t>
                </a: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r.v.s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with true mean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 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sample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pt-BR" sz="1400" i="1" dirty="0">
                                <a:latin typeface="Cambria Math" panose="02040503050406030204" pitchFamily="18" charset="0"/>
                                <a:sym typeface="Open Sauce Bold"/>
                              </a:rPr>
                            </m:ctrlPr>
                          </m:accPr>
                          <m:e>
                            <m:r>
                              <a:rPr lang="pt-BR" sz="1400" i="1" dirty="0">
                                <a:latin typeface="Cambria Math" panose="02040503050406030204" pitchFamily="18" charset="0"/>
                                <a:ea typeface="Open Sauce Bold"/>
                                <a:cs typeface="Open Sauce Bold"/>
                                <a:sym typeface="Open Sauce Bold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sym typeface="Open Sauce Bold"/>
                      </a:rPr>
                      <m:t>→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𝑛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 Bold"/>
                        <a:sym typeface="Open Sauce Bold"/>
                      </a:rPr>
                      <m:t>→∞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. This case, expected amount of 1-meter-steps taken for a 2D random walk to reach 1000 m circular perimeter is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</a:p>
              <a:p>
                <a:pPr marL="266700" indent="-171450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Hiker 1 tends to finish walk towards northeast perimeter, Hiker 2 towards northwest perimeter and Hiker 3 towards south-southwes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.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All near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(</m:t>
                    </m:r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0</m:t>
                    </m:r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, </m:t>
                    </m:r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0</m:t>
                    </m:r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uce Bold"/>
                        <a:cs typeface="Open Sauce Bold"/>
                        <a:sym typeface="Open Sauce Bold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positioned </a:t>
                </a: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means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1400" i="1" dirty="0">
                                <a:latin typeface="Cambria Math" panose="02040503050406030204" pitchFamily="18" charset="0"/>
                                <a:sym typeface="Open Sauce Bold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pt-BR" sz="1400" dirty="0">
                                <a:latin typeface="Cambria Math" panose="02040503050406030204" pitchFamily="18" charset="0"/>
                                <a:ea typeface="Open Sauce Bold"/>
                                <a:cs typeface="Open Sauce Bold"/>
                                <a:sym typeface="Open Sauce Bold"/>
                              </a:rPr>
                              <m:t>Δ</m:t>
                            </m:r>
                            <m:r>
                              <a:rPr lang="pt-BR" sz="1400" i="1" dirty="0">
                                <a:latin typeface="Cambria Math" panose="02040503050406030204" pitchFamily="18" charset="0"/>
                                <a:ea typeface="Open Sauce Bold"/>
                                <a:cs typeface="Open Sauce Bold"/>
                                <a:sym typeface="Open Sauce Bold"/>
                              </a:rPr>
                              <m:t>𝑋</m:t>
                            </m:r>
                          </m:e>
                        </m:acc>
                        <m:r>
                          <a:rPr lang="en-US" sz="1400" i="1" dirty="0">
                            <a:latin typeface="Cambria Math" panose="02040503050406030204" pitchFamily="18" charset="0"/>
                            <a:sym typeface="Open Sauce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pt-BR" sz="1400" i="1" dirty="0">
                                <a:latin typeface="Cambria Math" panose="02040503050406030204" pitchFamily="18" charset="0"/>
                                <a:sym typeface="Open Sauce Bold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pt-BR" sz="1400" dirty="0">
                                <a:latin typeface="Cambria Math" panose="02040503050406030204" pitchFamily="18" charset="0"/>
                                <a:ea typeface="Open Sauce Bold"/>
                                <a:cs typeface="Open Sauce Bold"/>
                                <a:sym typeface="Open Sauce Bold"/>
                              </a:rPr>
                              <m:t>Δ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  <a:ea typeface="Open Sauce Bold"/>
                                <a:cs typeface="Open Sauce Bold"/>
                                <a:sym typeface="Open Sauce Bold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confirm random walk unbiasedness; each step has equal chance to move in any direction, causing long-run mean displacement to be at the center with only small variations due to finite-sampling.</a:t>
                </a:r>
              </a:p>
              <a:p>
                <a:pPr algn="just"/>
                <a:endParaRPr lang="pt-BR" sz="1400" dirty="0">
                  <a:solidFill>
                    <a:srgbClr val="403B3B"/>
                  </a:solidFill>
                  <a:latin typeface="Open Sauce" panose="020B0604020202020204" charset="0"/>
                  <a:ea typeface="Open Sauce Bold"/>
                  <a:cs typeface="Open Sauce Bold"/>
                  <a:sym typeface="Open Sauce Bold"/>
                </a:endParaRPr>
              </a:p>
            </p:txBody>
          </p:sp>
        </mc:Choice>
        <mc:Fallback>
          <p:sp>
            <p:nvSpPr>
              <p:cNvPr id="45" name="TextBox 27">
                <a:extLst>
                  <a:ext uri="{FF2B5EF4-FFF2-40B4-BE49-F238E27FC236}">
                    <a16:creationId xmlns:a16="http://schemas.microsoft.com/office/drawing/2014/main" id="{23E192D1-476D-1A99-63DA-7B96D7BCA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5" y="9982730"/>
                <a:ext cx="7391741" cy="3016660"/>
              </a:xfrm>
              <a:prstGeom prst="rect">
                <a:avLst/>
              </a:prstGeom>
              <a:blipFill>
                <a:blip r:embed="rId9"/>
                <a:stretch>
                  <a:fillRect l="-1485" t="-2024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F3155DA-D76F-1BFB-4DA5-A2ECDBD525CE}"/>
              </a:ext>
            </a:extLst>
          </p:cNvPr>
          <p:cNvGrpSpPr/>
          <p:nvPr/>
        </p:nvGrpSpPr>
        <p:grpSpPr>
          <a:xfrm>
            <a:off x="36272" y="6001505"/>
            <a:ext cx="7509483" cy="4008910"/>
            <a:chOff x="31484" y="4668614"/>
            <a:chExt cx="7509483" cy="400891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276E3D8-C08A-968A-86F2-46DF18A5D3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3780"/>
            <a:stretch>
              <a:fillRect/>
            </a:stretch>
          </p:blipFill>
          <p:spPr>
            <a:xfrm>
              <a:off x="3735175" y="4668614"/>
              <a:ext cx="3747965" cy="371889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D633F24-323A-D118-B400-F59D481D51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t="2221"/>
            <a:stretch>
              <a:fillRect/>
            </a:stretch>
          </p:blipFill>
          <p:spPr>
            <a:xfrm>
              <a:off x="31484" y="5090380"/>
              <a:ext cx="3673508" cy="339340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8134828-FF15-1C40-8A5C-AAC28D29ECA1}"/>
                </a:ext>
              </a:extLst>
            </p:cNvPr>
            <p:cNvSpPr txBox="1"/>
            <p:nvPr/>
          </p:nvSpPr>
          <p:spPr>
            <a:xfrm>
              <a:off x="3895417" y="8400525"/>
              <a:ext cx="36455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Open Sauce" panose="020B0604020202020204" charset="0"/>
                </a:rPr>
                <a:t>Figure 2. Cumulative Running Mean of Steps N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D70396A-C4CB-2928-18E5-BE58CF716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44738" y="5103067"/>
              <a:ext cx="1204352" cy="58446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911F96-82B1-1F78-306F-455291600C1D}"/>
                </a:ext>
              </a:extLst>
            </p:cNvPr>
            <p:cNvSpPr txBox="1"/>
            <p:nvPr/>
          </p:nvSpPr>
          <p:spPr>
            <a:xfrm>
              <a:off x="866882" y="8400525"/>
              <a:ext cx="26452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Open Sauce" panose="020B0604020202020204" charset="0"/>
                </a:rPr>
                <a:t>Figure 1. 3 Hiker’s Simulated Path</a:t>
              </a:r>
            </a:p>
          </p:txBody>
        </p:sp>
      </p:grpSp>
      <p:sp>
        <p:nvSpPr>
          <p:cNvPr id="59" name="TextBox 10">
            <a:extLst>
              <a:ext uri="{FF2B5EF4-FFF2-40B4-BE49-F238E27FC236}">
                <a16:creationId xmlns:a16="http://schemas.microsoft.com/office/drawing/2014/main" id="{C4DED7BB-4475-2501-4E4C-BB497BCBA4F4}"/>
              </a:ext>
            </a:extLst>
          </p:cNvPr>
          <p:cNvSpPr txBox="1"/>
          <p:nvPr/>
        </p:nvSpPr>
        <p:spPr>
          <a:xfrm>
            <a:off x="98254" y="13308496"/>
            <a:ext cx="736699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400" b="1" dirty="0">
                <a:solidFill>
                  <a:srgbClr val="403B3B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[1] Introduction</a:t>
            </a:r>
          </a:p>
          <a:p>
            <a:pPr algn="just"/>
            <a:r>
              <a:rPr lang="en-US" sz="1400" dirty="0">
                <a:solidFill>
                  <a:srgbClr val="403B3B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Real-world data of fatal pedestrian accidents in April and September over 2016 – 2025 in Japan were obtained. The goal is to construct Poisson process that model the accidents accurately utilizing said data.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10">
                <a:extLst>
                  <a:ext uri="{FF2B5EF4-FFF2-40B4-BE49-F238E27FC236}">
                    <a16:creationId xmlns:a16="http://schemas.microsoft.com/office/drawing/2014/main" id="{7E64E9A9-11DA-1D0F-EE76-4649762D0738}"/>
                  </a:ext>
                </a:extLst>
              </p:cNvPr>
              <p:cNvSpPr txBox="1"/>
              <p:nvPr/>
            </p:nvSpPr>
            <p:spPr>
              <a:xfrm>
                <a:off x="98385" y="14197958"/>
                <a:ext cx="7398072" cy="8617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[2] Data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The 10-year accidents data:</a:t>
                </a:r>
              </a:p>
              <a:p>
                <a:pPr marL="269875" indent="-171450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April,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𝐴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= [1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00, 83, 97, 71, 95, 63, 72, 65, 67, 70]</m:t>
                    </m:r>
                  </m:oMath>
                </a14:m>
              </a:p>
              <a:p>
                <a:pPr marL="269875" indent="-171450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September,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𝑆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191, 178, 176, 135, 157, 135, 147, 130, 143, 139</m:t>
                        </m:r>
                      </m:e>
                    </m:d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</p:txBody>
          </p:sp>
        </mc:Choice>
        <mc:Fallback>
          <p:sp>
            <p:nvSpPr>
              <p:cNvPr id="60" name="TextBox 10">
                <a:extLst>
                  <a:ext uri="{FF2B5EF4-FFF2-40B4-BE49-F238E27FC236}">
                    <a16:creationId xmlns:a16="http://schemas.microsoft.com/office/drawing/2014/main" id="{7E64E9A9-11DA-1D0F-EE76-4649762D0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5" y="14197958"/>
                <a:ext cx="7398072" cy="861774"/>
              </a:xfrm>
              <a:prstGeom prst="rect">
                <a:avLst/>
              </a:prstGeom>
              <a:blipFill>
                <a:blip r:embed="rId13"/>
                <a:stretch>
                  <a:fillRect l="-1483" t="-6383" b="-1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10">
                <a:extLst>
                  <a:ext uri="{FF2B5EF4-FFF2-40B4-BE49-F238E27FC236}">
                    <a16:creationId xmlns:a16="http://schemas.microsoft.com/office/drawing/2014/main" id="{498FB68C-0C5E-0807-2C16-E14CD6445B4F}"/>
                  </a:ext>
                </a:extLst>
              </p:cNvPr>
              <p:cNvSpPr txBox="1"/>
              <p:nvPr/>
            </p:nvSpPr>
            <p:spPr>
              <a:xfrm>
                <a:off x="98254" y="15087420"/>
                <a:ext cx="7363105" cy="225273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[3] Method</a:t>
                </a:r>
                <a14:m/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Simulating as daily Poisson processes, rate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𝜆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as:</a:t>
                </a:r>
              </a:p>
              <a:p>
                <a:pPr marL="269875" indent="-1714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𝐴𝑝𝑟𝑖𝑙</m:t>
                        </m:r>
                      </m:sub>
                    </m:sSub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  <m:t>𝐴</m:t>
                            </m:r>
                          </m:e>
                        </m:nary>
                      </m:num>
                      <m:den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10×30</m:t>
                        </m:r>
                      </m:den>
                    </m:f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=2.610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</a:t>
                </a:r>
                <a:endParaRPr lang="en-US" sz="1400" i="1" dirty="0">
                  <a:solidFill>
                    <a:srgbClr val="403B3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Open Sauce"/>
                </a:endParaRPr>
              </a:p>
              <a:p>
                <a:pPr marL="269875" indent="-1714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𝑆𝑒𝑝𝑡𝑒𝑚𝑏𝑒𝑟</m:t>
                        </m:r>
                      </m:sub>
                    </m:sSub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  <m:t>𝑆</m:t>
                            </m:r>
                          </m:e>
                        </m:nary>
                      </m:num>
                      <m:den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10×3</m:t>
                        </m:r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0</m:t>
                        </m:r>
                      </m:den>
                    </m:f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=5.103</m:t>
                    </m:r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Using these, 4000 independent 30-day Poisson processes are simulated for April and September, generating total monthly accident counts and inter-arrival times between accidents, from which mean predicted counts and 95% Confidence Intervals are computed for each month. For reference, expected monthly mean are computed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𝐴𝑝𝑟𝑖𝑙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  <m:t>𝐴</m:t>
                            </m:r>
                          </m:e>
                        </m:nary>
                      </m:num>
                      <m:den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𝑆𝑒𝑝𝑡𝑒𝑚𝑏𝑒𝑟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400" b="0" i="1" smtClean="0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Open Sauce"/>
                              </a:rPr>
                              <m:t>𝑆</m:t>
                            </m:r>
                          </m:e>
                        </m:nary>
                      </m:num>
                      <m:den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10×30</m:t>
                        </m:r>
                      </m:den>
                    </m:f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</p:txBody>
          </p:sp>
        </mc:Choice>
        <mc:Fallback>
          <p:sp>
            <p:nvSpPr>
              <p:cNvPr id="61" name="TextBox 10">
                <a:extLst>
                  <a:ext uri="{FF2B5EF4-FFF2-40B4-BE49-F238E27FC236}">
                    <a16:creationId xmlns:a16="http://schemas.microsoft.com/office/drawing/2014/main" id="{498FB68C-0C5E-0807-2C16-E14CD6445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4" y="15087420"/>
                <a:ext cx="7363105" cy="2252733"/>
              </a:xfrm>
              <a:prstGeom prst="rect">
                <a:avLst/>
              </a:prstGeom>
              <a:blipFill>
                <a:blip r:embed="rId14"/>
                <a:stretch>
                  <a:fillRect l="-1490" t="-2703" r="-1490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10">
            <a:extLst>
              <a:ext uri="{FF2B5EF4-FFF2-40B4-BE49-F238E27FC236}">
                <a16:creationId xmlns:a16="http://schemas.microsoft.com/office/drawing/2014/main" id="{7B1FB98F-B814-2A54-4359-498D1918C5A7}"/>
              </a:ext>
            </a:extLst>
          </p:cNvPr>
          <p:cNvSpPr txBox="1"/>
          <p:nvPr/>
        </p:nvSpPr>
        <p:spPr>
          <a:xfrm>
            <a:off x="94372" y="17340153"/>
            <a:ext cx="736698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400" b="1" dirty="0">
                <a:solidFill>
                  <a:srgbClr val="403B3B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[4] Results </a:t>
            </a:r>
          </a:p>
          <a:p>
            <a:pPr algn="just"/>
            <a:endParaRPr lang="en-US" sz="1400" b="1" dirty="0">
              <a:solidFill>
                <a:srgbClr val="403B3B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8319E7-D52C-EECD-FE99-5A9C36F222CA}"/>
              </a:ext>
            </a:extLst>
          </p:cNvPr>
          <p:cNvSpPr txBox="1"/>
          <p:nvPr/>
        </p:nvSpPr>
        <p:spPr>
          <a:xfrm>
            <a:off x="2231225" y="17285152"/>
            <a:ext cx="3382720" cy="470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Open Sauce" panose="020B0604020202020204" charset="0"/>
              </a:rPr>
              <a:t>Figure 3. Simulated Total Monthly Accidents with 95% CI and Expected Mean</a:t>
            </a:r>
          </a:p>
        </p:txBody>
      </p:sp>
      <p:sp>
        <p:nvSpPr>
          <p:cNvPr id="95" name="AutoShape 21"/>
          <p:cNvSpPr/>
          <p:nvPr/>
        </p:nvSpPr>
        <p:spPr>
          <a:xfrm>
            <a:off x="55382" y="12840690"/>
            <a:ext cx="7501118" cy="7383"/>
          </a:xfrm>
          <a:prstGeom prst="line">
            <a:avLst/>
          </a:prstGeom>
          <a:ln w="19050" cap="rnd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10">
                <a:extLst>
                  <a:ext uri="{FF2B5EF4-FFF2-40B4-BE49-F238E27FC236}">
                    <a16:creationId xmlns:a16="http://schemas.microsoft.com/office/drawing/2014/main" id="{880B6FAA-B6AF-675B-7532-719A210FF00F}"/>
                  </a:ext>
                </a:extLst>
              </p:cNvPr>
              <p:cNvSpPr txBox="1"/>
              <p:nvPr/>
            </p:nvSpPr>
            <p:spPr>
              <a:xfrm>
                <a:off x="12093168" y="651360"/>
                <a:ext cx="2926817" cy="348031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 Bold" panose="020B0604020202020204" charset="0"/>
                    <a:ea typeface="Open Sauce Bold"/>
                    <a:cs typeface="Open Sauce Bold"/>
                    <a:sym typeface="Open Sauce Bold"/>
                  </a:rPr>
                  <a:t>[5] Analysis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Figure 3 shows visualizes that interquartile, median, and spread of April are lower and narrower than September which accurately follows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  <m:t>𝐴𝑝𝑟𝑖𝑙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2.610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 of being almost half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uce"/>
                            <a:sym typeface="Open Sauce"/>
                          </a:rPr>
                          <m:t>𝑆𝑒𝑝𝑡𝑒𝑚𝑏𝑒𝑟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Open Sauce"/>
                      </a:rPr>
                      <m:t>=5.103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.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Referring to the values in the legend, Simulated means closely match the expected means and fall well within the 95 % CI values of each month. 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Both April and September Poisson models accurately reproduced the observed real data rates.</a:t>
                </a:r>
              </a:p>
            </p:txBody>
          </p:sp>
        </mc:Choice>
        <mc:Fallback>
          <p:sp>
            <p:nvSpPr>
              <p:cNvPr id="96" name="TextBox 10">
                <a:extLst>
                  <a:ext uri="{FF2B5EF4-FFF2-40B4-BE49-F238E27FC236}">
                    <a16:creationId xmlns:a16="http://schemas.microsoft.com/office/drawing/2014/main" id="{880B6FAA-B6AF-675B-7532-719A210FF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3168" y="651360"/>
                <a:ext cx="2926817" cy="3480312"/>
              </a:xfrm>
              <a:prstGeom prst="rect">
                <a:avLst/>
              </a:prstGeom>
              <a:blipFill>
                <a:blip r:embed="rId15"/>
                <a:stretch>
                  <a:fillRect l="-3750" t="-1576" r="-3750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10">
                <a:extLst>
                  <a:ext uri="{FF2B5EF4-FFF2-40B4-BE49-F238E27FC236}">
                    <a16:creationId xmlns:a16="http://schemas.microsoft.com/office/drawing/2014/main" id="{0E99D624-F637-F092-4F10-A5BC42F28995}"/>
                  </a:ext>
                </a:extLst>
              </p:cNvPr>
              <p:cNvSpPr txBox="1"/>
              <p:nvPr/>
            </p:nvSpPr>
            <p:spPr>
              <a:xfrm>
                <a:off x="7675231" y="4231368"/>
                <a:ext cx="7339383" cy="12926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Figure 4 overlays exponentially distributed inter-arrival waits between accidents for each month. September’s histogram is shifted toward shorter intervals, consistent with its higher accident rate while April has a longer right tail, which follows the fact that when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𝜆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is smaller, events are more infrequent and gaps are longer. The 95 % cutoff shows that for April, 95% of accident gaps are shorter than ~1.7 days, and for September shorter than ~1.3 days.</a:t>
                </a:r>
                <a:endParaRPr lang="en-US" sz="1400" b="1" dirty="0">
                  <a:solidFill>
                    <a:srgbClr val="403B3B"/>
                  </a:solidFill>
                  <a:latin typeface="Open Sauce Bold" panose="020B0604020202020204" charset="0"/>
                  <a:ea typeface="Open Sauce Bold"/>
                  <a:cs typeface="Open Sauce Bold"/>
                  <a:sym typeface="Open Sauce Bold"/>
                </a:endParaRPr>
              </a:p>
            </p:txBody>
          </p:sp>
        </mc:Choice>
        <mc:Fallback>
          <p:sp>
            <p:nvSpPr>
              <p:cNvPr id="99" name="TextBox 10">
                <a:extLst>
                  <a:ext uri="{FF2B5EF4-FFF2-40B4-BE49-F238E27FC236}">
                    <a16:creationId xmlns:a16="http://schemas.microsoft.com/office/drawing/2014/main" id="{0E99D624-F637-F092-4F10-A5BC42F28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231" y="4231368"/>
                <a:ext cx="7339383" cy="1292662"/>
              </a:xfrm>
              <a:prstGeom prst="rect">
                <a:avLst/>
              </a:prstGeom>
              <a:blipFill>
                <a:blip r:embed="rId16"/>
                <a:stretch>
                  <a:fillRect l="-1495" t="-4245" r="-1495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AutoShape 21">
            <a:extLst>
              <a:ext uri="{FF2B5EF4-FFF2-40B4-BE49-F238E27FC236}">
                <a16:creationId xmlns:a16="http://schemas.microsoft.com/office/drawing/2014/main" id="{2BD0468A-5E94-0612-1A33-A5ABE1606F07}"/>
              </a:ext>
            </a:extLst>
          </p:cNvPr>
          <p:cNvSpPr/>
          <p:nvPr/>
        </p:nvSpPr>
        <p:spPr>
          <a:xfrm>
            <a:off x="7561263" y="5546307"/>
            <a:ext cx="7501118" cy="7383"/>
          </a:xfrm>
          <a:prstGeom prst="line">
            <a:avLst/>
          </a:prstGeom>
          <a:ln w="19050" cap="rnd">
            <a:solidFill>
              <a:srgbClr val="403B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">
                <a:extLst>
                  <a:ext uri="{FF2B5EF4-FFF2-40B4-BE49-F238E27FC236}">
                    <a16:creationId xmlns:a16="http://schemas.microsoft.com/office/drawing/2014/main" id="{EB28AE21-3BFD-FEF0-B64F-DCD1A8A25777}"/>
                  </a:ext>
                </a:extLst>
              </p:cNvPr>
              <p:cNvSpPr txBox="1"/>
              <p:nvPr/>
            </p:nvSpPr>
            <p:spPr>
              <a:xfrm>
                <a:off x="7640639" y="6005919"/>
                <a:ext cx="7397447" cy="10772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[1] Introduction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This task’s goal was to infer if a sample mean is statistically consistent to a known population mean. Through two methods, classic one-sample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-test, and a bootstrap algorithm that uses resampling to build a simulated reference distribution of test statistic under the null.</a:t>
                </a:r>
              </a:p>
            </p:txBody>
          </p:sp>
        </mc:Choice>
        <mc:Fallback>
          <p:sp>
            <p:nvSpPr>
              <p:cNvPr id="102" name="TextBox 10">
                <a:extLst>
                  <a:ext uri="{FF2B5EF4-FFF2-40B4-BE49-F238E27FC236}">
                    <a16:creationId xmlns:a16="http://schemas.microsoft.com/office/drawing/2014/main" id="{EB28AE21-3BFD-FEF0-B64F-DCD1A8A25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639" y="6005919"/>
                <a:ext cx="7397447" cy="1077218"/>
              </a:xfrm>
              <a:prstGeom prst="rect">
                <a:avLst/>
              </a:prstGeom>
              <a:blipFill>
                <a:blip r:embed="rId17"/>
                <a:stretch>
                  <a:fillRect l="-1483" t="-5085" r="-1400" b="-9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">
                <a:extLst>
                  <a:ext uri="{FF2B5EF4-FFF2-40B4-BE49-F238E27FC236}">
                    <a16:creationId xmlns:a16="http://schemas.microsoft.com/office/drawing/2014/main" id="{8BFB33EE-6B87-2F09-69A3-B2FF7B30F67E}"/>
                  </a:ext>
                </a:extLst>
              </p:cNvPr>
              <p:cNvSpPr txBox="1"/>
              <p:nvPr/>
            </p:nvSpPr>
            <p:spPr>
              <a:xfrm>
                <a:off x="7641275" y="7096759"/>
                <a:ext cx="7374695" cy="440466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[2] Method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Classic one-sample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-test: 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Formulate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sym typeface="Open Sauce"/>
                      </a:rPr>
                      <m:t>: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sym typeface="Open Sauce"/>
                      </a:rPr>
                      <m:t>: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and 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Draw a single sample from a distribution model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Compute test statistic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then obtain two-tailed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 from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-distribution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Compare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 to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715963" lvl="1" indent="-166688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b="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&lt;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, significant,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715963" lvl="1" indent="-166688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b="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&gt;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, not significant,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92075" indent="-92075"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Bootstrap algorithm: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Draw new sample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𝑋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𝑁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from a distribution model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Compute test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𝑡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Over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𝐵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=4000 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bootstraps, resample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𝑋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with replacements as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𝑌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, each time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𝑡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  <m:t>𝑌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Increment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𝐴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every time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i="1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  <m:t>𝑌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sym typeface="Open Sauce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1400" i="1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sym typeface="Open Sauce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403B3B"/>
                                </a:solidFill>
                                <a:latin typeface="Cambria Math" panose="02040503050406030204" pitchFamily="18" charset="0"/>
                                <a:sym typeface="Open Sauce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(extreme results)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b="0" i="0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</m:t>
                    </m:r>
                    <m:f>
                      <m:fPr>
                        <m:ctrlPr>
                          <a:rPr lang="en-US" sz="1400" b="0" i="0" dirty="0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400" b="0" i="0" dirty="0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A</m:t>
                        </m:r>
                        <m:r>
                          <a:rPr lang="en-US" sz="1400" b="0" i="0" dirty="0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+1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𝐵</m:t>
                        </m:r>
                        <m:r>
                          <a:rPr lang="en-US" sz="1400" b="0" i="1" dirty="0" smtClean="0">
                            <a:solidFill>
                              <a:srgbClr val="403B3B"/>
                            </a:solidFill>
                            <a:latin typeface="Cambria Math" panose="02040503050406030204" pitchFamily="18" charset="0"/>
                            <a:ea typeface="Open Sauce"/>
                            <a:cs typeface="Open Sauce"/>
                            <a:sym typeface="Open Sauce"/>
                          </a:rPr>
                          <m:t>+1</m:t>
                        </m:r>
                      </m:den>
                    </m:f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Repeat entire bootstrap 1000 times </a:t>
                </a:r>
              </a:p>
              <a:p>
                <a:pPr marL="266700" indent="-174625" algn="just">
                  <a:buFont typeface="+mj-lt"/>
                  <a:buAutoNum type="arabicPeriod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Calculate proportions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&lt;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across 1000 simulations to estimate significance level.</a:t>
                </a:r>
              </a:p>
              <a:p>
                <a:pPr marL="92075"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Samples will be drawn from two distribution models to be implemented with each algorithm totaling to 4 tests. </a:t>
                </a:r>
              </a:p>
            </p:txBody>
          </p:sp>
        </mc:Choice>
        <mc:Fallback>
          <p:sp>
            <p:nvSpPr>
              <p:cNvPr id="103" name="TextBox 10">
                <a:extLst>
                  <a:ext uri="{FF2B5EF4-FFF2-40B4-BE49-F238E27FC236}">
                    <a16:creationId xmlns:a16="http://schemas.microsoft.com/office/drawing/2014/main" id="{8BFB33EE-6B87-2F09-69A3-B2FF7B30F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75" y="7096759"/>
                <a:ext cx="7374695" cy="4404667"/>
              </a:xfrm>
              <a:prstGeom prst="rect">
                <a:avLst/>
              </a:prstGeom>
              <a:blipFill>
                <a:blip r:embed="rId18"/>
                <a:stretch>
                  <a:fillRect l="-1488" t="-1245" r="-1488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">
                <a:extLst>
                  <a:ext uri="{FF2B5EF4-FFF2-40B4-BE49-F238E27FC236}">
                    <a16:creationId xmlns:a16="http://schemas.microsoft.com/office/drawing/2014/main" id="{2E70461E-2BC7-8C54-7614-55BF5099E738}"/>
                  </a:ext>
                </a:extLst>
              </p:cNvPr>
              <p:cNvSpPr txBox="1"/>
              <p:nvPr/>
            </p:nvSpPr>
            <p:spPr>
              <a:xfrm>
                <a:off x="7666835" y="11473856"/>
                <a:ext cx="7366990" cy="15081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[3] Data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Two chosen probability models:</a:t>
                </a:r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Normal distribution: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=12.5, 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Exponential distribution: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𝜆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=0.08,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=12.5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Sample size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𝑁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=37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, tests comparing each to population mean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𝑐</m:t>
                    </m:r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=12.5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=0.05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. Record output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-values and %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-values under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uce"/>
                        <a:sym typeface="Open Sauce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 from the bootstrap simulations. </a:t>
                </a:r>
                <a:endParaRPr lang="en-US" sz="1400" i="1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</p:txBody>
          </p:sp>
        </mc:Choice>
        <mc:Fallback>
          <p:sp>
            <p:nvSpPr>
              <p:cNvPr id="108" name="TextBox 10">
                <a:extLst>
                  <a:ext uri="{FF2B5EF4-FFF2-40B4-BE49-F238E27FC236}">
                    <a16:creationId xmlns:a16="http://schemas.microsoft.com/office/drawing/2014/main" id="{2E70461E-2BC7-8C54-7614-55BF5099E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835" y="11473856"/>
                <a:ext cx="7366990" cy="1508105"/>
              </a:xfrm>
              <a:prstGeom prst="rect">
                <a:avLst/>
              </a:prstGeom>
              <a:blipFill>
                <a:blip r:embed="rId19"/>
                <a:stretch>
                  <a:fillRect l="-1490" t="-3629" r="-1490" b="-6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">
                <a:extLst>
                  <a:ext uri="{FF2B5EF4-FFF2-40B4-BE49-F238E27FC236}">
                    <a16:creationId xmlns:a16="http://schemas.microsoft.com/office/drawing/2014/main" id="{1BF6132F-A436-57A5-A4B0-F0F3694962B4}"/>
                  </a:ext>
                </a:extLst>
              </p:cNvPr>
              <p:cNvSpPr txBox="1"/>
              <p:nvPr/>
            </p:nvSpPr>
            <p:spPr>
              <a:xfrm>
                <a:off x="7672126" y="12995583"/>
                <a:ext cx="7366990" cy="15081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/>
                <a:r>
                  <a:rPr lang="en-US" sz="1400" b="1" dirty="0">
                    <a:solidFill>
                      <a:srgbClr val="403B3B"/>
                    </a:solidFill>
                    <a:latin typeface="Open Sauce" panose="020B0604020202020204" charset="0"/>
                    <a:ea typeface="Open Sauce Bold"/>
                    <a:cs typeface="Open Sauce Bold"/>
                    <a:sym typeface="Open Sauce Bold"/>
                  </a:rPr>
                  <a:t>[4] Results</a:t>
                </a: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Classic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3B3B"/>
                        </a:solidFill>
                        <a:latin typeface="Cambria Math" panose="02040503050406030204" pitchFamily="18" charset="0"/>
                        <a:ea typeface="Open Sauce"/>
                        <a:cs typeface="Open Sauce"/>
                        <a:sym typeface="Open Sauce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-tests:</a:t>
                </a:r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Normal sample: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=0.9788</m:t>
                    </m:r>
                  </m:oMath>
                </a14:m>
                <a:endParaRPr lang="en-US" sz="1400" b="0" dirty="0">
                  <a:latin typeface="Open Sauce" panose="020B0604020202020204" charset="0"/>
                </a:endParaRPr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Exponential sample: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=0.4328</m:t>
                    </m:r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  <a:p>
                <a:pPr algn="just"/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Bootstrap algorithm:</a:t>
                </a:r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Normal sample: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sym typeface="Open Sauce"/>
                      </a:rPr>
                      <m:t>%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sym typeface="Open Sauce"/>
                      </a:rPr>
                      <m:t>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sym typeface="Open Sauce"/>
                      </a:rPr>
                      <m:t>𝑜𝑓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sym typeface="Open Sauce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&lt;0.05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3.40%,</m:t>
                    </m:r>
                  </m:oMath>
                </a14:m>
                <a:endParaRPr lang="en-US" sz="1400" dirty="0">
                  <a:latin typeface="Open Sauce" panose="020B0604020202020204" charset="0"/>
                </a:endParaRPr>
              </a:p>
              <a:p>
                <a:pPr marL="266700" indent="-193675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403B3B"/>
                    </a:solidFill>
                    <a:latin typeface="Open Sauce" panose="020B0604020202020204" charset="0"/>
                    <a:ea typeface="Open Sauce"/>
                    <a:cs typeface="Open Sauce"/>
                    <a:sym typeface="Open Sauce"/>
                  </a:rPr>
                  <a:t>Exponential sample: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  <a:sym typeface="Open Sauce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  <a:sym typeface="Open Sauce"/>
                      </a:rPr>
                      <m:t>% </m:t>
                    </m:r>
                    <m:r>
                      <a:rPr lang="en-US" sz="1400" i="1" dirty="0">
                        <a:latin typeface="Cambria Math" panose="02040503050406030204" pitchFamily="18" charset="0"/>
                        <a:sym typeface="Open Sauce"/>
                      </a:rPr>
                      <m:t>𝑜𝑓</m:t>
                    </m:r>
                    <m:r>
                      <a:rPr lang="en-US" sz="1400" dirty="0">
                        <a:latin typeface="Cambria Math" panose="02040503050406030204" pitchFamily="18" charset="0"/>
                        <a:sym typeface="Open Sauce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&lt;0.05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=4.70%,</m:t>
                    </m:r>
                  </m:oMath>
                </a14:m>
                <a:endParaRPr lang="en-US" sz="1400" dirty="0">
                  <a:solidFill>
                    <a:srgbClr val="403B3B"/>
                  </a:solidFill>
                  <a:latin typeface="Open Sauce" panose="020B0604020202020204" charset="0"/>
                  <a:ea typeface="Open Sauce"/>
                  <a:cs typeface="Open Sauce"/>
                  <a:sym typeface="Open Sauce"/>
                </a:endParaRPr>
              </a:p>
            </p:txBody>
          </p:sp>
        </mc:Choice>
        <mc:Fallback>
          <p:sp>
            <p:nvSpPr>
              <p:cNvPr id="109" name="TextBox 10">
                <a:extLst>
                  <a:ext uri="{FF2B5EF4-FFF2-40B4-BE49-F238E27FC236}">
                    <a16:creationId xmlns:a16="http://schemas.microsoft.com/office/drawing/2014/main" id="{1BF6132F-A436-57A5-A4B0-F0F36949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126" y="12995583"/>
                <a:ext cx="7366990" cy="1508105"/>
              </a:xfrm>
              <a:prstGeom prst="rect">
                <a:avLst/>
              </a:prstGeom>
              <a:blipFill>
                <a:blip r:embed="rId20"/>
                <a:stretch>
                  <a:fillRect l="-1490" t="-3644" b="-6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1423</Words>
  <Application>Microsoft Office PowerPoint</Application>
  <PresentationFormat>Custom</PresentationFormat>
  <Paragraphs>101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Cambria Math</vt:lpstr>
      <vt:lpstr>Open Sauce</vt:lpstr>
      <vt:lpstr>Open Sauce Semi-Bold</vt:lpstr>
      <vt:lpstr>Open Sauce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and White Simplified Professional Portrait University Research Poster</dc:title>
  <dc:creator>Ifal Malela</dc:creator>
  <cp:lastModifiedBy>Ａｎｄｉｆａｌｌｉｈ Ｎｏｏｒ ＭＡＬＥＬＡ(is0751hr)</cp:lastModifiedBy>
  <cp:revision>52</cp:revision>
  <dcterms:created xsi:type="dcterms:W3CDTF">2006-08-16T00:00:00Z</dcterms:created>
  <dcterms:modified xsi:type="dcterms:W3CDTF">2025-11-06T23:31:23Z</dcterms:modified>
  <dc:identifier>DAG34MCuRy0</dc:identifier>
</cp:coreProperties>
</file>